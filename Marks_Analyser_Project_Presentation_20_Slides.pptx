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FC8E97-D8F4-47B3-80F0-81DFAB525E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E6AE92-2568-4C67-82C8-4E29814F19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3E7F99-D23B-46A9-A9E4-8F51191B9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1BE3E8-5671-4F75-9530-3FEF4796E1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266706-2CC1-40DE-A863-BF6C86D302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0F2A4B-8B63-43CE-9F15-A13B28BD8E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198DB9-DEE4-4F3E-B721-ABB707AD2A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697C4A-C3E2-4281-8201-F2DA6C496D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FD32D8-AAEE-425C-A345-1FB20F8DF8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BF8A5D-78BA-4014-B7DB-ED3F50D20E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EDC5E6-FB1A-4982-ABB5-56FE4C7F4A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BA9BC0-18B2-476A-9E7F-678B6489A9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39A980-F8E7-4AF4-AC18-D29FB819242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72000"/>
            <a:ext cx="12191400" cy="685764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ebb43c"/>
          </a:solidFill>
          <a:ln>
            <a:solidFill>
              <a:srgbClr val="ebb4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ounded Rectangle 3"/>
          <p:cNvSpPr/>
          <p:nvPr/>
        </p:nvSpPr>
        <p:spPr>
          <a:xfrm>
            <a:off x="8138160" y="594360"/>
            <a:ext cx="3017160" cy="530316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4"/>
          <p:cNvSpPr/>
          <p:nvPr/>
        </p:nvSpPr>
        <p:spPr>
          <a:xfrm>
            <a:off x="685800" y="985320"/>
            <a:ext cx="71319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MARKS ANALYSER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731520" y="1701360"/>
            <a:ext cx="68576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d2e4f5"/>
                </a:solidFill>
                <a:latin typeface="Aptos"/>
              </a:rPr>
              <a:t>Automated Response-Sheet Analysis System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777240" y="3004200"/>
            <a:ext cx="621756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ptos"/>
              </a:rPr>
              <a:t>A web-based platform that extracts responses from examination PDFs, calculates marks, and presents clear result analytics.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777240" y="5153400"/>
            <a:ext cx="62175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r>
              <a:rPr b="1" lang="en-US" sz="1500" spc="-1" strike="noStrike">
                <a:solidFill>
                  <a:srgbClr val="dce6f0"/>
                </a:solidFill>
                <a:latin typeface="Aptos"/>
              </a:rPr>
              <a:t>YAMALAVALASA SRINIVAS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dce6f0"/>
                </a:solidFill>
                <a:latin typeface="Aptos"/>
              </a:rPr>
              <a:t>Master of Computer Applications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8571240" y="1195200"/>
            <a:ext cx="25840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r>
              <a:rPr b="1" lang="en-US" sz="2200" spc="-1" strike="noStrike">
                <a:solidFill>
                  <a:srgbClr val="ffffff"/>
                </a:solidFill>
                <a:latin typeface="Aptos"/>
              </a:rPr>
              <a:t>PROJECT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</a:rPr>
              <a:t>PRESENTATION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8458200" y="2928240"/>
            <a:ext cx="2331360" cy="12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r>
              <a:rPr b="1" lang="en-US" sz="1900" spc="-1" strike="noStrike">
                <a:solidFill>
                  <a:srgbClr val="ffffff"/>
                </a:solidFill>
                <a:latin typeface="Aptos"/>
              </a:rPr>
              <a:t>React</a:t>
            </a:r>
            <a:endParaRPr b="0" lang="en-IN" sz="1900" spc="-1" strike="noStrike">
              <a:latin typeface="Arial"/>
            </a:endParaRPr>
          </a:p>
          <a:p>
            <a:r>
              <a:rPr b="1" lang="en-US" sz="1900" spc="-1" strike="noStrike">
                <a:solidFill>
                  <a:srgbClr val="ffffff"/>
                </a:solidFill>
                <a:latin typeface="Aptos"/>
              </a:rPr>
              <a:t>Express.js</a:t>
            </a:r>
            <a:endParaRPr b="0" lang="en-IN" sz="1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Aptos"/>
              </a:rPr>
              <a:t>Flask • MongoDB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50" name="TextBox 10"/>
          <p:cNvSpPr/>
          <p:nvPr/>
        </p:nvSpPr>
        <p:spPr>
          <a:xfrm>
            <a:off x="777240" y="6174360"/>
            <a:ext cx="64004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d2e4f5"/>
                </a:solidFill>
                <a:latin typeface="Aptos"/>
              </a:rPr>
              <a:t>Noble Institute of Science &amp; Technology  |  2024–2026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Presentation Roadmap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A structured view of the project from problem to future scope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6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7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02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8" name="Rounded Rectangle 8"/>
          <p:cNvSpPr/>
          <p:nvPr/>
        </p:nvSpPr>
        <p:spPr>
          <a:xfrm>
            <a:off x="731520" y="1234440"/>
            <a:ext cx="9140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9"/>
          <p:cNvSpPr/>
          <p:nvPr/>
        </p:nvSpPr>
        <p:spPr>
          <a:xfrm>
            <a:off x="731520" y="1320120"/>
            <a:ext cx="91404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1874520" y="1320120"/>
            <a:ext cx="81378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23054"/>
                </a:solidFill>
                <a:latin typeface="Aptos"/>
              </a:rPr>
              <a:t>Problem &amp; objectives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1" name="Rectangle 11"/>
          <p:cNvSpPr/>
          <p:nvPr/>
        </p:nvSpPr>
        <p:spPr>
          <a:xfrm>
            <a:off x="10515600" y="1417320"/>
            <a:ext cx="685440" cy="164160"/>
          </a:xfrm>
          <a:prstGeom prst="rect">
            <a:avLst/>
          </a:prstGeom>
          <a:solidFill>
            <a:srgbClr val="ebb43c"/>
          </a:solidFill>
          <a:ln>
            <a:solidFill>
              <a:srgbClr val="ebb4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Rounded Rectangle 12"/>
          <p:cNvSpPr/>
          <p:nvPr/>
        </p:nvSpPr>
        <p:spPr>
          <a:xfrm>
            <a:off x="731520" y="2130480"/>
            <a:ext cx="9140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13"/>
          <p:cNvSpPr/>
          <p:nvPr/>
        </p:nvSpPr>
        <p:spPr>
          <a:xfrm>
            <a:off x="731520" y="2216160"/>
            <a:ext cx="91404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4" name="TextBox 14"/>
          <p:cNvSpPr/>
          <p:nvPr/>
        </p:nvSpPr>
        <p:spPr>
          <a:xfrm>
            <a:off x="1874520" y="2216160"/>
            <a:ext cx="81378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23054"/>
                </a:solidFill>
                <a:latin typeface="Aptos"/>
              </a:rPr>
              <a:t>System analysis and proposed solution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5" name="Rectangle 15"/>
          <p:cNvSpPr/>
          <p:nvPr/>
        </p:nvSpPr>
        <p:spPr>
          <a:xfrm>
            <a:off x="10515600" y="2313360"/>
            <a:ext cx="685440" cy="164160"/>
          </a:xfrm>
          <a:prstGeom prst="rect">
            <a:avLst/>
          </a:prstGeom>
          <a:solidFill>
            <a:srgbClr val="ebb43c"/>
          </a:solidFill>
          <a:ln>
            <a:solidFill>
              <a:srgbClr val="ebb4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Rounded Rectangle 16"/>
          <p:cNvSpPr/>
          <p:nvPr/>
        </p:nvSpPr>
        <p:spPr>
          <a:xfrm>
            <a:off x="731520" y="3026520"/>
            <a:ext cx="9140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17"/>
          <p:cNvSpPr/>
          <p:nvPr/>
        </p:nvSpPr>
        <p:spPr>
          <a:xfrm>
            <a:off x="731520" y="3112200"/>
            <a:ext cx="91404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8" name="TextBox 18"/>
          <p:cNvSpPr/>
          <p:nvPr/>
        </p:nvSpPr>
        <p:spPr>
          <a:xfrm>
            <a:off x="1874520" y="3112200"/>
            <a:ext cx="81378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23054"/>
                </a:solidFill>
                <a:latin typeface="Aptos"/>
              </a:rPr>
              <a:t>Architecture and UML design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9" name="Rectangle 19"/>
          <p:cNvSpPr/>
          <p:nvPr/>
        </p:nvSpPr>
        <p:spPr>
          <a:xfrm>
            <a:off x="10515600" y="3209400"/>
            <a:ext cx="685440" cy="164160"/>
          </a:xfrm>
          <a:prstGeom prst="rect">
            <a:avLst/>
          </a:prstGeom>
          <a:solidFill>
            <a:srgbClr val="ebb43c"/>
          </a:solidFill>
          <a:ln>
            <a:solidFill>
              <a:srgbClr val="ebb4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Rounded Rectangle 20"/>
          <p:cNvSpPr/>
          <p:nvPr/>
        </p:nvSpPr>
        <p:spPr>
          <a:xfrm>
            <a:off x="731520" y="3922920"/>
            <a:ext cx="9140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21"/>
          <p:cNvSpPr/>
          <p:nvPr/>
        </p:nvSpPr>
        <p:spPr>
          <a:xfrm>
            <a:off x="731520" y="4008600"/>
            <a:ext cx="91404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2" name="TextBox 22"/>
          <p:cNvSpPr/>
          <p:nvPr/>
        </p:nvSpPr>
        <p:spPr>
          <a:xfrm>
            <a:off x="1874520" y="4008600"/>
            <a:ext cx="81378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23054"/>
                </a:solidFill>
                <a:latin typeface="Aptos"/>
              </a:rPr>
              <a:t>Implementation and technology stack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" name="Rectangle 23"/>
          <p:cNvSpPr/>
          <p:nvPr/>
        </p:nvSpPr>
        <p:spPr>
          <a:xfrm>
            <a:off x="10515600" y="4105800"/>
            <a:ext cx="685440" cy="164160"/>
          </a:xfrm>
          <a:prstGeom prst="rect">
            <a:avLst/>
          </a:prstGeom>
          <a:solidFill>
            <a:srgbClr val="ebb43c"/>
          </a:solidFill>
          <a:ln>
            <a:solidFill>
              <a:srgbClr val="ebb4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ounded Rectangle 24"/>
          <p:cNvSpPr/>
          <p:nvPr/>
        </p:nvSpPr>
        <p:spPr>
          <a:xfrm>
            <a:off x="731520" y="4818960"/>
            <a:ext cx="9140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25"/>
          <p:cNvSpPr/>
          <p:nvPr/>
        </p:nvSpPr>
        <p:spPr>
          <a:xfrm>
            <a:off x="731520" y="4904640"/>
            <a:ext cx="91404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5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6" name="TextBox 26"/>
          <p:cNvSpPr/>
          <p:nvPr/>
        </p:nvSpPr>
        <p:spPr>
          <a:xfrm>
            <a:off x="1874520" y="4904640"/>
            <a:ext cx="81378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23054"/>
                </a:solidFill>
                <a:latin typeface="Aptos"/>
              </a:rPr>
              <a:t>Testing, security, and future scope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7" name="Rectangle 27"/>
          <p:cNvSpPr/>
          <p:nvPr/>
        </p:nvSpPr>
        <p:spPr>
          <a:xfrm>
            <a:off x="10515600" y="5001840"/>
            <a:ext cx="685440" cy="164160"/>
          </a:xfrm>
          <a:prstGeom prst="rect">
            <a:avLst/>
          </a:prstGeom>
          <a:solidFill>
            <a:srgbClr val="ebb43c"/>
          </a:solidFill>
          <a:ln>
            <a:solidFill>
              <a:srgbClr val="ebb4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Project Overview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What Marks Analyser delivers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03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5" name="Rectangle 8"/>
          <p:cNvSpPr/>
          <p:nvPr/>
        </p:nvSpPr>
        <p:spPr>
          <a:xfrm>
            <a:off x="594360" y="1188720"/>
            <a:ext cx="5348880" cy="489168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Rectangle 9"/>
          <p:cNvSpPr/>
          <p:nvPr/>
        </p:nvSpPr>
        <p:spPr>
          <a:xfrm>
            <a:off x="6245280" y="1188720"/>
            <a:ext cx="5348880" cy="489168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TextBox 10"/>
          <p:cNvSpPr/>
          <p:nvPr/>
        </p:nvSpPr>
        <p:spPr>
          <a:xfrm>
            <a:off x="841320" y="1358640"/>
            <a:ext cx="475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23054"/>
                </a:solidFill>
                <a:latin typeface="Aptos"/>
              </a:rPr>
              <a:t>Purpose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822960" y="1783080"/>
            <a:ext cx="4663080" cy="18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Automates objective-exam marks calculation from PDF response sheets.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Reduces manual checking, transcription errors, and repetitive calculations.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Provides candidate-level score summaries and response-wise analysis.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6492240" y="1358640"/>
            <a:ext cx="475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23054"/>
                </a:solidFill>
                <a:latin typeface="Aptos"/>
              </a:rPr>
              <a:t>Core Workflow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" name="TextBox 13"/>
          <p:cNvSpPr/>
          <p:nvPr/>
        </p:nvSpPr>
        <p:spPr>
          <a:xfrm>
            <a:off x="6473880" y="1783080"/>
            <a:ext cx="4663080" cy="20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Upload a response sheet PDF.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Extract candidate details and marked responses.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Compare with answer key and marking scheme.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Store and present the calculated result.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Problem Statement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Why a unified analysis system is needed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04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731520" y="1234440"/>
            <a:ext cx="548604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Manual response-sheet evaluation is slow and error-prone.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Spreadsheets and isolated scripts do not provide a consistent workflow.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PDF layouts require examination-aware extraction logic.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Administrators need traceable results, health visibility, and reliable error handling.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9" name="Rectangle 9"/>
          <p:cNvSpPr/>
          <p:nvPr/>
        </p:nvSpPr>
        <p:spPr>
          <a:xfrm>
            <a:off x="6629400" y="1325880"/>
            <a:ext cx="4708800" cy="429732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10"/>
          <p:cNvSpPr/>
          <p:nvPr/>
        </p:nvSpPr>
        <p:spPr>
          <a:xfrm>
            <a:off x="7040880" y="1724040"/>
            <a:ext cx="384012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123054"/>
                </a:solidFill>
                <a:latin typeface="Aptos"/>
              </a:rPr>
              <a:t>Manual process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01" name="Rounded Rectangle 11"/>
          <p:cNvSpPr/>
          <p:nvPr/>
        </p:nvSpPr>
        <p:spPr>
          <a:xfrm>
            <a:off x="7406640" y="2331720"/>
            <a:ext cx="3062880" cy="347040"/>
          </a:xfrm>
          <a:prstGeom prst="roundRect">
            <a:avLst>
              <a:gd name="adj" fmla="val 16667"/>
            </a:avLst>
          </a:prstGeom>
          <a:solidFill>
            <a:srgbClr val="e1eaf3"/>
          </a:solidFill>
          <a:ln>
            <a:solidFill>
              <a:srgbClr val="e1eaf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TextBox 12"/>
          <p:cNvSpPr/>
          <p:nvPr/>
        </p:nvSpPr>
        <p:spPr>
          <a:xfrm>
            <a:off x="7406640" y="2362680"/>
            <a:ext cx="30628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272d"/>
                </a:solidFill>
                <a:latin typeface="Aptos"/>
              </a:rPr>
              <a:t>Read PDF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3" name="Rounded Rectangle 13"/>
          <p:cNvSpPr/>
          <p:nvPr/>
        </p:nvSpPr>
        <p:spPr>
          <a:xfrm>
            <a:off x="7406640" y="2862000"/>
            <a:ext cx="3062880" cy="347040"/>
          </a:xfrm>
          <a:prstGeom prst="roundRect">
            <a:avLst>
              <a:gd name="adj" fmla="val 16667"/>
            </a:avLst>
          </a:prstGeom>
          <a:solidFill>
            <a:srgbClr val="e1eaf3"/>
          </a:solidFill>
          <a:ln>
            <a:solidFill>
              <a:srgbClr val="e1eaf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14"/>
          <p:cNvSpPr/>
          <p:nvPr/>
        </p:nvSpPr>
        <p:spPr>
          <a:xfrm>
            <a:off x="7406640" y="2892960"/>
            <a:ext cx="30628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272d"/>
                </a:solidFill>
                <a:latin typeface="Aptos"/>
              </a:rPr>
              <a:t>Record answers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5" name="Rounded Rectangle 15"/>
          <p:cNvSpPr/>
          <p:nvPr/>
        </p:nvSpPr>
        <p:spPr>
          <a:xfrm>
            <a:off x="7406640" y="3392280"/>
            <a:ext cx="3062880" cy="347040"/>
          </a:xfrm>
          <a:prstGeom prst="roundRect">
            <a:avLst>
              <a:gd name="adj" fmla="val 16667"/>
            </a:avLst>
          </a:prstGeom>
          <a:solidFill>
            <a:srgbClr val="e1eaf3"/>
          </a:solidFill>
          <a:ln>
            <a:solidFill>
              <a:srgbClr val="e1eaf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16"/>
          <p:cNvSpPr/>
          <p:nvPr/>
        </p:nvSpPr>
        <p:spPr>
          <a:xfrm>
            <a:off x="7406640" y="3423240"/>
            <a:ext cx="30628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272d"/>
                </a:solidFill>
                <a:latin typeface="Aptos"/>
              </a:rPr>
              <a:t>Compare key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7" name="Rounded Rectangle 17"/>
          <p:cNvSpPr/>
          <p:nvPr/>
        </p:nvSpPr>
        <p:spPr>
          <a:xfrm>
            <a:off x="7406640" y="3922920"/>
            <a:ext cx="3062880" cy="347040"/>
          </a:xfrm>
          <a:prstGeom prst="roundRect">
            <a:avLst>
              <a:gd name="adj" fmla="val 16667"/>
            </a:avLst>
          </a:prstGeom>
          <a:solidFill>
            <a:srgbClr val="e1eaf3"/>
          </a:solidFill>
          <a:ln>
            <a:solidFill>
              <a:srgbClr val="e1eaf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TextBox 18"/>
          <p:cNvSpPr/>
          <p:nvPr/>
        </p:nvSpPr>
        <p:spPr>
          <a:xfrm>
            <a:off x="7406640" y="3953880"/>
            <a:ext cx="30628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272d"/>
                </a:solidFill>
                <a:latin typeface="Aptos"/>
              </a:rPr>
              <a:t>Calculate marks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9" name="Rounded Rectangle 19"/>
          <p:cNvSpPr/>
          <p:nvPr/>
        </p:nvSpPr>
        <p:spPr>
          <a:xfrm>
            <a:off x="7406640" y="4453200"/>
            <a:ext cx="3062880" cy="347040"/>
          </a:xfrm>
          <a:prstGeom prst="roundRect">
            <a:avLst>
              <a:gd name="adj" fmla="val 16667"/>
            </a:avLst>
          </a:prstGeom>
          <a:solidFill>
            <a:srgbClr val="e1eaf3"/>
          </a:solidFill>
          <a:ln>
            <a:solidFill>
              <a:srgbClr val="e1eaf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20"/>
          <p:cNvSpPr/>
          <p:nvPr/>
        </p:nvSpPr>
        <p:spPr>
          <a:xfrm>
            <a:off x="7406640" y="4484160"/>
            <a:ext cx="30628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272d"/>
                </a:solidFill>
                <a:latin typeface="Aptos"/>
              </a:rPr>
              <a:t>Prepare result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Objectives of the Project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Target outcomes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05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822960" y="1234440"/>
            <a:ext cx="10423800" cy="26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Accept PDF response sheets through a simple web interface.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Extract candidate details and selected answers accurately.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Calculate correct, incorrect, unattempted, and total marks.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Persist results for retrieval and administration.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Support extensible examination-specific parsing pipelines.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000" spc="-1" strike="noStrike">
                <a:solidFill>
                  <a:srgbClr val="22272d"/>
                </a:solidFill>
                <a:latin typeface="Aptos"/>
              </a:rPr>
              <a:t>Provide secure, maintainable, and monitorable services.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System Architecture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High-level component architecture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06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6" name="Rectangle 8"/>
          <p:cNvSpPr/>
          <p:nvPr/>
        </p:nvSpPr>
        <p:spPr>
          <a:xfrm>
            <a:off x="1097280" y="1280160"/>
            <a:ext cx="9966600" cy="44802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27" name="Picture 9" descr="component diagram.png"/>
          <p:cNvPicPr/>
          <p:nvPr/>
        </p:nvPicPr>
        <p:blipFill>
          <a:blip r:embed="rId1"/>
          <a:stretch/>
        </p:blipFill>
        <p:spPr>
          <a:xfrm>
            <a:off x="2046960" y="1280160"/>
            <a:ext cx="8067240" cy="4480200"/>
          </a:xfrm>
          <a:prstGeom prst="rect">
            <a:avLst/>
          </a:prstGeom>
          <a:ln w="0">
            <a:noFill/>
          </a:ln>
        </p:spPr>
      </p:pic>
      <p:sp>
        <p:nvSpPr>
          <p:cNvPr id="128" name="TextBox 10"/>
          <p:cNvSpPr/>
          <p:nvPr/>
        </p:nvSpPr>
        <p:spPr>
          <a:xfrm>
            <a:off x="1143000" y="5857200"/>
            <a:ext cx="98751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23054"/>
                </a:solidFill>
                <a:latin typeface="Aptos"/>
              </a:rPr>
              <a:t>Frontend → Express API → Parser &amp; Scoring → MongoDB / Redis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End-to-End Processing Flow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From PDF upload to result presentation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07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6" name="Rectangle 8"/>
          <p:cNvSpPr/>
          <p:nvPr/>
        </p:nvSpPr>
        <p:spPr>
          <a:xfrm>
            <a:off x="1097280" y="1143000"/>
            <a:ext cx="4114440" cy="52117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37" name="Picture 9" descr="activity diagram.png"/>
          <p:cNvPicPr/>
          <p:nvPr/>
        </p:nvPicPr>
        <p:blipFill>
          <a:blip r:embed="rId1"/>
          <a:stretch/>
        </p:blipFill>
        <p:spPr>
          <a:xfrm>
            <a:off x="2149560" y="1143000"/>
            <a:ext cx="2009880" cy="5211720"/>
          </a:xfrm>
          <a:prstGeom prst="rect">
            <a:avLst/>
          </a:prstGeom>
          <a:ln w="0">
            <a:noFill/>
          </a:ln>
        </p:spPr>
      </p:pic>
      <p:sp>
        <p:nvSpPr>
          <p:cNvPr id="138" name="TextBox 10"/>
          <p:cNvSpPr/>
          <p:nvPr/>
        </p:nvSpPr>
        <p:spPr>
          <a:xfrm>
            <a:off x="5806440" y="1371600"/>
            <a:ext cx="5120280" cy="27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User uploads a PDF response sheet.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Backend validates type and size.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Parser extracts answers and candidate details.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Scoring compares answers with the key.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Result is stored and displayed.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Failures return clear, structured messages.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Use-Case Model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Actors and key system interactions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08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685800" y="1143000"/>
            <a:ext cx="6491880" cy="525744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47" name="Picture 9" descr="usecase.png"/>
          <p:cNvPicPr/>
          <p:nvPr/>
        </p:nvPicPr>
        <p:blipFill>
          <a:blip r:embed="rId1"/>
          <a:stretch/>
        </p:blipFill>
        <p:spPr>
          <a:xfrm>
            <a:off x="933120" y="1143000"/>
            <a:ext cx="5997240" cy="5257440"/>
          </a:xfrm>
          <a:prstGeom prst="rect">
            <a:avLst/>
          </a:prstGeom>
          <a:ln w="0">
            <a:noFill/>
          </a:ln>
        </p:spPr>
      </p:pic>
      <p:sp>
        <p:nvSpPr>
          <p:cNvPr id="148" name="TextBox 10"/>
          <p:cNvSpPr/>
          <p:nvPr/>
        </p:nvSpPr>
        <p:spPr>
          <a:xfrm>
            <a:off x="7452360" y="1645920"/>
            <a:ext cx="4023000" cy="20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Candidate: upload response sheet and view result.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Administrator: review results, analytics, jobs, and health.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Parser service: extract PDF data for the analysis pipeline.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Data-Flow Design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53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Context and Level-1 data flow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09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6" name="Rectangle 8"/>
          <p:cNvSpPr/>
          <p:nvPr/>
        </p:nvSpPr>
        <p:spPr>
          <a:xfrm>
            <a:off x="640080" y="1234440"/>
            <a:ext cx="4663080" cy="480024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7" name="Picture 9" descr="dataflow diagram.png"/>
          <p:cNvPicPr/>
          <p:nvPr/>
        </p:nvPicPr>
        <p:blipFill>
          <a:blip r:embed="rId1"/>
          <a:stretch/>
        </p:blipFill>
        <p:spPr>
          <a:xfrm>
            <a:off x="1243800" y="1234440"/>
            <a:ext cx="3455640" cy="4800240"/>
          </a:xfrm>
          <a:prstGeom prst="rect">
            <a:avLst/>
          </a:prstGeom>
          <a:ln w="0">
            <a:noFill/>
          </a:ln>
        </p:spPr>
      </p:pic>
      <p:sp>
        <p:nvSpPr>
          <p:cNvPr id="158" name="Rectangle 10"/>
          <p:cNvSpPr/>
          <p:nvPr/>
        </p:nvSpPr>
        <p:spPr>
          <a:xfrm>
            <a:off x="6400800" y="1234440"/>
            <a:ext cx="4663080" cy="480024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9" name="Picture 11" descr="dataflow diagram level1 .png"/>
          <p:cNvPicPr/>
          <p:nvPr/>
        </p:nvPicPr>
        <p:blipFill>
          <a:blip r:embed="rId2"/>
          <a:stretch/>
        </p:blipFill>
        <p:spPr>
          <a:xfrm>
            <a:off x="7502400" y="1234440"/>
            <a:ext cx="2460240" cy="4800240"/>
          </a:xfrm>
          <a:prstGeom prst="rect">
            <a:avLst/>
          </a:prstGeom>
          <a:ln w="0">
            <a:noFill/>
          </a:ln>
        </p:spPr>
      </p:pic>
      <p:sp>
        <p:nvSpPr>
          <p:cNvPr id="160" name="TextBox 12"/>
          <p:cNvSpPr/>
          <p:nvPr/>
        </p:nvSpPr>
        <p:spPr>
          <a:xfrm>
            <a:off x="685800" y="5823720"/>
            <a:ext cx="45716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23054"/>
                </a:solidFill>
                <a:latin typeface="Aptos"/>
              </a:rPr>
              <a:t>Context view: user, system, and database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TextBox 13"/>
          <p:cNvSpPr/>
          <p:nvPr/>
        </p:nvSpPr>
        <p:spPr>
          <a:xfrm>
            <a:off x="6446520" y="5823720"/>
            <a:ext cx="45716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23054"/>
                </a:solidFill>
                <a:latin typeface="Aptos"/>
              </a:rPr>
              <a:t>Level 1: upload, parser, scoring, storage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Data and Class Design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Persistent result data and application responsibilities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10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9" name="Rectangle 8"/>
          <p:cNvSpPr/>
          <p:nvPr/>
        </p:nvSpPr>
        <p:spPr>
          <a:xfrm>
            <a:off x="777240" y="1143000"/>
            <a:ext cx="4937400" cy="53488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70" name="Picture 9" descr="class diagram.png"/>
          <p:cNvPicPr/>
          <p:nvPr/>
        </p:nvPicPr>
        <p:blipFill>
          <a:blip r:embed="rId1"/>
          <a:stretch/>
        </p:blipFill>
        <p:spPr>
          <a:xfrm>
            <a:off x="1294560" y="1143000"/>
            <a:ext cx="3902760" cy="5348880"/>
          </a:xfrm>
          <a:prstGeom prst="rect">
            <a:avLst/>
          </a:prstGeom>
          <a:ln w="0">
            <a:noFill/>
          </a:ln>
        </p:spPr>
      </p:pic>
      <p:sp>
        <p:nvSpPr>
          <p:cNvPr id="171" name="Rectangle 10"/>
          <p:cNvSpPr/>
          <p:nvPr/>
        </p:nvSpPr>
        <p:spPr>
          <a:xfrm>
            <a:off x="6400800" y="1143000"/>
            <a:ext cx="4571640" cy="53488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72" name="Picture 11" descr="er diagram.png"/>
          <p:cNvPicPr/>
          <p:nvPr/>
        </p:nvPicPr>
        <p:blipFill>
          <a:blip r:embed="rId2"/>
          <a:stretch/>
        </p:blipFill>
        <p:spPr>
          <a:xfrm>
            <a:off x="7498800" y="1143000"/>
            <a:ext cx="2375640" cy="534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Sequence and State Models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Service collaboration and response-sheet lifecycle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8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0" name="Rectangle 8"/>
          <p:cNvSpPr/>
          <p:nvPr/>
        </p:nvSpPr>
        <p:spPr>
          <a:xfrm>
            <a:off x="640080" y="1234440"/>
            <a:ext cx="6766200" cy="47545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81" name="Picture 9" descr="sequence diagram.png"/>
          <p:cNvPicPr/>
          <p:nvPr/>
        </p:nvPicPr>
        <p:blipFill>
          <a:blip r:embed="rId1"/>
          <a:stretch/>
        </p:blipFill>
        <p:spPr>
          <a:xfrm>
            <a:off x="1176480" y="1234440"/>
            <a:ext cx="5693400" cy="4754520"/>
          </a:xfrm>
          <a:prstGeom prst="rect">
            <a:avLst/>
          </a:prstGeom>
          <a:ln w="0">
            <a:noFill/>
          </a:ln>
        </p:spPr>
      </p:pic>
      <p:sp>
        <p:nvSpPr>
          <p:cNvPr id="182" name="Rectangle 10"/>
          <p:cNvSpPr/>
          <p:nvPr/>
        </p:nvSpPr>
        <p:spPr>
          <a:xfrm>
            <a:off x="7909560" y="1234440"/>
            <a:ext cx="2925720" cy="47545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83" name="Picture 11" descr="state diagram.png"/>
          <p:cNvPicPr/>
          <p:nvPr/>
        </p:nvPicPr>
        <p:blipFill>
          <a:blip r:embed="rId2"/>
          <a:stretch/>
        </p:blipFill>
        <p:spPr>
          <a:xfrm>
            <a:off x="8764200" y="1234440"/>
            <a:ext cx="1216800" cy="475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Package and Deployment Design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Logical organisation and runtime environment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0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1" name="Rectangle 8"/>
          <p:cNvSpPr/>
          <p:nvPr/>
        </p:nvSpPr>
        <p:spPr>
          <a:xfrm>
            <a:off x="640080" y="1234440"/>
            <a:ext cx="5303160" cy="44802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92" name="Picture 9" descr="package diagram.png"/>
          <p:cNvPicPr/>
          <p:nvPr/>
        </p:nvPicPr>
        <p:blipFill>
          <a:blip r:embed="rId1"/>
          <a:stretch/>
        </p:blipFill>
        <p:spPr>
          <a:xfrm>
            <a:off x="640080" y="2078640"/>
            <a:ext cx="5303160" cy="2792160"/>
          </a:xfrm>
          <a:prstGeom prst="rect">
            <a:avLst/>
          </a:prstGeom>
          <a:ln w="0">
            <a:noFill/>
          </a:ln>
        </p:spPr>
      </p:pic>
      <p:sp>
        <p:nvSpPr>
          <p:cNvPr id="193" name="Rectangle 10"/>
          <p:cNvSpPr/>
          <p:nvPr/>
        </p:nvSpPr>
        <p:spPr>
          <a:xfrm>
            <a:off x="6263640" y="1234440"/>
            <a:ext cx="5303160" cy="44802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94" name="Picture 11" descr="deployment diagram.png"/>
          <p:cNvPicPr/>
          <p:nvPr/>
        </p:nvPicPr>
        <p:blipFill>
          <a:blip r:embed="rId2"/>
          <a:stretch/>
        </p:blipFill>
        <p:spPr>
          <a:xfrm>
            <a:off x="6263640" y="1519560"/>
            <a:ext cx="5303160" cy="3909960"/>
          </a:xfrm>
          <a:prstGeom prst="rect">
            <a:avLst/>
          </a:prstGeom>
          <a:ln w="0">
            <a:noFill/>
          </a:ln>
        </p:spPr>
      </p:pic>
      <p:sp>
        <p:nvSpPr>
          <p:cNvPr id="195" name="TextBox 12"/>
          <p:cNvSpPr/>
          <p:nvPr/>
        </p:nvSpPr>
        <p:spPr>
          <a:xfrm>
            <a:off x="640080" y="5816160"/>
            <a:ext cx="530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973"/>
                </a:solidFill>
                <a:latin typeface="Aptos"/>
              </a:rPr>
              <a:t>Packages separate frontend, backend, parser, and data services.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6" name="TextBox 13"/>
          <p:cNvSpPr/>
          <p:nvPr/>
        </p:nvSpPr>
        <p:spPr>
          <a:xfrm>
            <a:off x="6263640" y="5816160"/>
            <a:ext cx="530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973"/>
                </a:solidFill>
                <a:latin typeface="Aptos"/>
              </a:rPr>
              <a:t>Deployment separates browser, services, queue, and database.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Technology Stack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Modern, modular, and extensible technologies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3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4" name="Rectangle 8"/>
          <p:cNvSpPr/>
          <p:nvPr/>
        </p:nvSpPr>
        <p:spPr>
          <a:xfrm>
            <a:off x="594360" y="1188720"/>
            <a:ext cx="5348880" cy="489168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Rectangle 9"/>
          <p:cNvSpPr/>
          <p:nvPr/>
        </p:nvSpPr>
        <p:spPr>
          <a:xfrm>
            <a:off x="6245280" y="1188720"/>
            <a:ext cx="5348880" cy="489168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TextBox 10"/>
          <p:cNvSpPr/>
          <p:nvPr/>
        </p:nvSpPr>
        <p:spPr>
          <a:xfrm>
            <a:off x="841320" y="1358640"/>
            <a:ext cx="475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23054"/>
                </a:solidFill>
                <a:latin typeface="Aptos"/>
              </a:rPr>
              <a:t>Application Layers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7" name="TextBox 11"/>
          <p:cNvSpPr/>
          <p:nvPr/>
        </p:nvSpPr>
        <p:spPr>
          <a:xfrm>
            <a:off x="822960" y="1783080"/>
            <a:ext cx="4663080" cy="13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Frontend: React 19, Vite, Axios, Recharts.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Backend: Node.js, Express, Mongoose, Multer.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Parser: Python, Flask, Flask-CORS.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8" name="TextBox 12"/>
          <p:cNvSpPr/>
          <p:nvPr/>
        </p:nvSpPr>
        <p:spPr>
          <a:xfrm>
            <a:off x="6492240" y="1358640"/>
            <a:ext cx="475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23054"/>
                </a:solidFill>
                <a:latin typeface="Aptos"/>
              </a:rPr>
              <a:t>Data &amp; Operations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6473880" y="1783080"/>
            <a:ext cx="4663080" cy="17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Database: MongoDB for result persistence.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Queue: Redis, BullMQ, Bull Board.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Deployment: Docker, Docker Compose, Nginx.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Security: Helmet, CORS, rate limiting.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Implementation Modules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Responsibilities by module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7" name="Rounded Rectangle 8"/>
          <p:cNvSpPr/>
          <p:nvPr/>
        </p:nvSpPr>
        <p:spPr>
          <a:xfrm>
            <a:off x="777240" y="123444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9"/>
          <p:cNvSpPr/>
          <p:nvPr/>
        </p:nvSpPr>
        <p:spPr>
          <a:xfrm>
            <a:off x="777240" y="1352160"/>
            <a:ext cx="274284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Aptos"/>
              </a:rPr>
              <a:t>Frontend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19" name="Rectangle 10"/>
          <p:cNvSpPr/>
          <p:nvPr/>
        </p:nvSpPr>
        <p:spPr>
          <a:xfrm>
            <a:off x="3675960" y="1234440"/>
            <a:ext cx="7223400" cy="56664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TextBox 11"/>
          <p:cNvSpPr/>
          <p:nvPr/>
        </p:nvSpPr>
        <p:spPr>
          <a:xfrm>
            <a:off x="3822120" y="1360080"/>
            <a:ext cx="6903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Upload form, progress, result display, admin screens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1" name="Rounded Rectangle 12"/>
          <p:cNvSpPr/>
          <p:nvPr/>
        </p:nvSpPr>
        <p:spPr>
          <a:xfrm>
            <a:off x="777240" y="210312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TextBox 13"/>
          <p:cNvSpPr/>
          <p:nvPr/>
        </p:nvSpPr>
        <p:spPr>
          <a:xfrm>
            <a:off x="777240" y="2220840"/>
            <a:ext cx="274284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Aptos"/>
              </a:rPr>
              <a:t>Backend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23" name="Rectangle 14"/>
          <p:cNvSpPr/>
          <p:nvPr/>
        </p:nvSpPr>
        <p:spPr>
          <a:xfrm>
            <a:off x="3675960" y="2103120"/>
            <a:ext cx="7223400" cy="56664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TextBox 15"/>
          <p:cNvSpPr/>
          <p:nvPr/>
        </p:nvSpPr>
        <p:spPr>
          <a:xfrm>
            <a:off x="3822120" y="2228760"/>
            <a:ext cx="6903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Routes, validation, orchestration, authentication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5" name="Rounded Rectangle 16"/>
          <p:cNvSpPr/>
          <p:nvPr/>
        </p:nvSpPr>
        <p:spPr>
          <a:xfrm>
            <a:off x="777240" y="297180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TextBox 17"/>
          <p:cNvSpPr/>
          <p:nvPr/>
        </p:nvSpPr>
        <p:spPr>
          <a:xfrm>
            <a:off x="777240" y="3089520"/>
            <a:ext cx="274284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Aptos"/>
              </a:rPr>
              <a:t>Parser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27" name="Rectangle 18"/>
          <p:cNvSpPr/>
          <p:nvPr/>
        </p:nvSpPr>
        <p:spPr>
          <a:xfrm>
            <a:off x="3675960" y="2971800"/>
            <a:ext cx="7223400" cy="56664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19"/>
          <p:cNvSpPr/>
          <p:nvPr/>
        </p:nvSpPr>
        <p:spPr>
          <a:xfrm>
            <a:off x="3822120" y="3097440"/>
            <a:ext cx="6903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PDF text extraction and exam-specific parsing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9" name="Rounded Rectangle 20"/>
          <p:cNvSpPr/>
          <p:nvPr/>
        </p:nvSpPr>
        <p:spPr>
          <a:xfrm>
            <a:off x="777240" y="384048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21"/>
          <p:cNvSpPr/>
          <p:nvPr/>
        </p:nvSpPr>
        <p:spPr>
          <a:xfrm>
            <a:off x="777240" y="3958200"/>
            <a:ext cx="274284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Aptos"/>
              </a:rPr>
              <a:t>Scoring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31" name="Rectangle 22"/>
          <p:cNvSpPr/>
          <p:nvPr/>
        </p:nvSpPr>
        <p:spPr>
          <a:xfrm>
            <a:off x="3675960" y="3840480"/>
            <a:ext cx="7223400" cy="56664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TextBox 23"/>
          <p:cNvSpPr/>
          <p:nvPr/>
        </p:nvSpPr>
        <p:spPr>
          <a:xfrm>
            <a:off x="3822120" y="3966120"/>
            <a:ext cx="6903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Normalisation and marks calculation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3" name="Rounded Rectangle 24"/>
          <p:cNvSpPr/>
          <p:nvPr/>
        </p:nvSpPr>
        <p:spPr>
          <a:xfrm>
            <a:off x="777240" y="4709160"/>
            <a:ext cx="2742840" cy="5666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TextBox 25"/>
          <p:cNvSpPr/>
          <p:nvPr/>
        </p:nvSpPr>
        <p:spPr>
          <a:xfrm>
            <a:off x="777240" y="4826880"/>
            <a:ext cx="274284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Aptos"/>
              </a:rPr>
              <a:t>Data services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35" name="Rectangle 26"/>
          <p:cNvSpPr/>
          <p:nvPr/>
        </p:nvSpPr>
        <p:spPr>
          <a:xfrm>
            <a:off x="3675960" y="4709160"/>
            <a:ext cx="7223400" cy="56664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TextBox 27"/>
          <p:cNvSpPr/>
          <p:nvPr/>
        </p:nvSpPr>
        <p:spPr>
          <a:xfrm>
            <a:off x="3822120" y="4834800"/>
            <a:ext cx="6903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MongoDB persistence and Redis queue processing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Parser and Scoring Pipeline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Reliable transformation of PDF text into marks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4" name="Rounded Rectangle 8"/>
          <p:cNvSpPr/>
          <p:nvPr/>
        </p:nvSpPr>
        <p:spPr>
          <a:xfrm>
            <a:off x="731520" y="1965960"/>
            <a:ext cx="1919880" cy="2239920"/>
          </a:xfrm>
          <a:prstGeom prst="roundRect">
            <a:avLst>
              <a:gd name="adj" fmla="val 16667"/>
            </a:avLst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9"/>
          <p:cNvSpPr/>
          <p:nvPr/>
        </p:nvSpPr>
        <p:spPr>
          <a:xfrm>
            <a:off x="868680" y="2217960"/>
            <a:ext cx="16455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23054"/>
                </a:solidFill>
                <a:latin typeface="Aptos"/>
              </a:rPr>
              <a:t>1. Validate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6" name="TextBox 10"/>
          <p:cNvSpPr/>
          <p:nvPr/>
        </p:nvSpPr>
        <p:spPr>
          <a:xfrm>
            <a:off x="887040" y="2867760"/>
            <a:ext cx="1608840" cy="8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2272d"/>
                </a:solidFill>
                <a:latin typeface="Aptos"/>
              </a:rPr>
              <a:t>Validate PDF type, size, and examination context.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7" name="TextBox 11"/>
          <p:cNvSpPr/>
          <p:nvPr/>
        </p:nvSpPr>
        <p:spPr>
          <a:xfrm>
            <a:off x="2633400" y="2791080"/>
            <a:ext cx="3013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ebb43c"/>
                </a:solidFill>
                <a:latin typeface="Aptos"/>
              </a:rPr>
              <a:t>→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48" name="Rounded Rectangle 12"/>
          <p:cNvSpPr/>
          <p:nvPr/>
        </p:nvSpPr>
        <p:spPr>
          <a:xfrm>
            <a:off x="2971800" y="1965960"/>
            <a:ext cx="1919880" cy="2239920"/>
          </a:xfrm>
          <a:prstGeom prst="roundRect">
            <a:avLst>
              <a:gd name="adj" fmla="val 16667"/>
            </a:avLst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9" name="TextBox 13"/>
          <p:cNvSpPr/>
          <p:nvPr/>
        </p:nvSpPr>
        <p:spPr>
          <a:xfrm>
            <a:off x="3108960" y="2217960"/>
            <a:ext cx="16455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23054"/>
                </a:solidFill>
                <a:latin typeface="Aptos"/>
              </a:rPr>
              <a:t>2. Extract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0" name="TextBox 14"/>
          <p:cNvSpPr/>
          <p:nvPr/>
        </p:nvSpPr>
        <p:spPr>
          <a:xfrm>
            <a:off x="3127320" y="2959200"/>
            <a:ext cx="16088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2272d"/>
                </a:solidFill>
                <a:latin typeface="Aptos"/>
              </a:rPr>
              <a:t>Detect candidate information and marked responses.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4873680" y="2791080"/>
            <a:ext cx="3013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ebb43c"/>
                </a:solidFill>
                <a:latin typeface="Aptos"/>
              </a:rPr>
              <a:t>→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52" name="Rounded Rectangle 16"/>
          <p:cNvSpPr/>
          <p:nvPr/>
        </p:nvSpPr>
        <p:spPr>
          <a:xfrm>
            <a:off x="5212080" y="1965960"/>
            <a:ext cx="1919880" cy="2239920"/>
          </a:xfrm>
          <a:prstGeom prst="roundRect">
            <a:avLst>
              <a:gd name="adj" fmla="val 16667"/>
            </a:avLst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17"/>
          <p:cNvSpPr/>
          <p:nvPr/>
        </p:nvSpPr>
        <p:spPr>
          <a:xfrm>
            <a:off x="5349240" y="2217960"/>
            <a:ext cx="16455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23054"/>
                </a:solidFill>
                <a:latin typeface="Aptos"/>
              </a:rPr>
              <a:t>3. Normalise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4" name="TextBox 18"/>
          <p:cNvSpPr/>
          <p:nvPr/>
        </p:nvSpPr>
        <p:spPr>
          <a:xfrm>
            <a:off x="5367600" y="2867760"/>
            <a:ext cx="1608840" cy="8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2272d"/>
                </a:solidFill>
                <a:latin typeface="Aptos"/>
              </a:rPr>
              <a:t>Convert options into a consistent A–D representation.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TextBox 19"/>
          <p:cNvSpPr/>
          <p:nvPr/>
        </p:nvSpPr>
        <p:spPr>
          <a:xfrm>
            <a:off x="7113960" y="2791080"/>
            <a:ext cx="3013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ebb43c"/>
                </a:solidFill>
                <a:latin typeface="Aptos"/>
              </a:rPr>
              <a:t>→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56" name="Rounded Rectangle 20"/>
          <p:cNvSpPr/>
          <p:nvPr/>
        </p:nvSpPr>
        <p:spPr>
          <a:xfrm>
            <a:off x="7452360" y="1965960"/>
            <a:ext cx="1919880" cy="2239920"/>
          </a:xfrm>
          <a:prstGeom prst="roundRect">
            <a:avLst>
              <a:gd name="adj" fmla="val 16667"/>
            </a:avLst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21"/>
          <p:cNvSpPr/>
          <p:nvPr/>
        </p:nvSpPr>
        <p:spPr>
          <a:xfrm>
            <a:off x="7589520" y="2217960"/>
            <a:ext cx="16455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23054"/>
                </a:solidFill>
                <a:latin typeface="Aptos"/>
              </a:rPr>
              <a:t>4. Score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8" name="TextBox 22"/>
          <p:cNvSpPr/>
          <p:nvPr/>
        </p:nvSpPr>
        <p:spPr>
          <a:xfrm>
            <a:off x="7607880" y="3050280"/>
            <a:ext cx="16088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2272d"/>
                </a:solidFill>
                <a:latin typeface="Aptos"/>
              </a:rPr>
              <a:t>Apply answer key and marking rules.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9" name="TextBox 23"/>
          <p:cNvSpPr/>
          <p:nvPr/>
        </p:nvSpPr>
        <p:spPr>
          <a:xfrm>
            <a:off x="9354240" y="2791080"/>
            <a:ext cx="3013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ebb43c"/>
                </a:solidFill>
                <a:latin typeface="Aptos"/>
              </a:rPr>
              <a:t>→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60" name="Rounded Rectangle 24"/>
          <p:cNvSpPr/>
          <p:nvPr/>
        </p:nvSpPr>
        <p:spPr>
          <a:xfrm>
            <a:off x="9692640" y="1965960"/>
            <a:ext cx="1919880" cy="2239920"/>
          </a:xfrm>
          <a:prstGeom prst="roundRect">
            <a:avLst>
              <a:gd name="adj" fmla="val 16667"/>
            </a:avLst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TextBox 25"/>
          <p:cNvSpPr/>
          <p:nvPr/>
        </p:nvSpPr>
        <p:spPr>
          <a:xfrm>
            <a:off x="9829800" y="2217960"/>
            <a:ext cx="16455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23054"/>
                </a:solidFill>
                <a:latin typeface="Aptos"/>
              </a:rPr>
              <a:t>5. Persist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2" name="TextBox 26"/>
          <p:cNvSpPr/>
          <p:nvPr/>
        </p:nvSpPr>
        <p:spPr>
          <a:xfrm>
            <a:off x="9848160" y="2867760"/>
            <a:ext cx="1608840" cy="8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2272d"/>
                </a:solidFill>
                <a:latin typeface="Aptos"/>
              </a:rPr>
              <a:t>Store traceable result and confidence information.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3" name="TextBox 27"/>
          <p:cNvSpPr/>
          <p:nvPr/>
        </p:nvSpPr>
        <p:spPr>
          <a:xfrm>
            <a:off x="1005840" y="5031360"/>
            <a:ext cx="1014948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5f6973"/>
                </a:solidFill>
                <a:latin typeface="Aptos"/>
              </a:rPr>
              <a:t>Confidence information and structured errors support safe review of imperfect documents.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5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Data, Queue, and Administration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Built for traceability and high-volume workloads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9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70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16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1" name="Rectangle 8"/>
          <p:cNvSpPr/>
          <p:nvPr/>
        </p:nvSpPr>
        <p:spPr>
          <a:xfrm>
            <a:off x="594360" y="1188720"/>
            <a:ext cx="5348880" cy="489168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Rectangle 9"/>
          <p:cNvSpPr/>
          <p:nvPr/>
        </p:nvSpPr>
        <p:spPr>
          <a:xfrm>
            <a:off x="6245280" y="1188720"/>
            <a:ext cx="5348880" cy="489168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TextBox 10"/>
          <p:cNvSpPr/>
          <p:nvPr/>
        </p:nvSpPr>
        <p:spPr>
          <a:xfrm>
            <a:off x="841320" y="1358640"/>
            <a:ext cx="475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23054"/>
                </a:solidFill>
                <a:latin typeface="Aptos"/>
              </a:rPr>
              <a:t>Result Management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4" name="TextBox 11"/>
          <p:cNvSpPr/>
          <p:nvPr/>
        </p:nvSpPr>
        <p:spPr>
          <a:xfrm>
            <a:off x="822960" y="1783080"/>
            <a:ext cx="4663080" cy="16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Store exam, candidate data, responses, key, counts, and marks.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Support result retrieval and controlled recalculation.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Preserve timestamps for auditability.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5" name="TextBox 12"/>
          <p:cNvSpPr/>
          <p:nvPr/>
        </p:nvSpPr>
        <p:spPr>
          <a:xfrm>
            <a:off x="6492240" y="1358640"/>
            <a:ext cx="475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23054"/>
                </a:solidFill>
                <a:latin typeface="Aptos"/>
              </a:rPr>
              <a:t>Asynchronous Processing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TextBox 13"/>
          <p:cNvSpPr/>
          <p:nvPr/>
        </p:nvSpPr>
        <p:spPr>
          <a:xfrm>
            <a:off x="6473880" y="1783080"/>
            <a:ext cx="4663080" cy="18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BullMQ queues jobs when parsing should not block users.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Redis coordinates queued, active, completed, and failed work.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Admin pages expose results, job status, analytics, and health.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0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Security and Reliability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81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Controls built into the service architecture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2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17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777240" y="1143000"/>
            <a:ext cx="6583320" cy="35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PDF-only upload validation and configurable file-size limits.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Helmet security headers, CORS policy, and request rate limiting.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Dedicated administrator authentication middleware.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Structured JSON errors and central exception handling.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Health checks, queue monitoring, and circuit-breaker support.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800" spc="-1" strike="noStrike">
                <a:solidFill>
                  <a:srgbClr val="22272d"/>
                </a:solidFill>
                <a:latin typeface="Aptos"/>
              </a:rPr>
              <a:t>Recommended production controls: HTTPS, malware scanning, secret management, backups.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5" name="Rectangle 9"/>
          <p:cNvSpPr/>
          <p:nvPr/>
        </p:nvSpPr>
        <p:spPr>
          <a:xfrm>
            <a:off x="7818120" y="1325880"/>
            <a:ext cx="3245760" cy="448020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6" name="TextBox 10"/>
          <p:cNvSpPr/>
          <p:nvPr/>
        </p:nvSpPr>
        <p:spPr>
          <a:xfrm>
            <a:off x="8183880" y="1739520"/>
            <a:ext cx="25142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123054"/>
                </a:solidFill>
                <a:latin typeface="Aptos"/>
              </a:rPr>
              <a:t>Reliability loop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287" name="Rounded Rectangle 11"/>
          <p:cNvSpPr/>
          <p:nvPr/>
        </p:nvSpPr>
        <p:spPr>
          <a:xfrm>
            <a:off x="8412480" y="2468880"/>
            <a:ext cx="2057040" cy="392760"/>
          </a:xfrm>
          <a:prstGeom prst="roundRect">
            <a:avLst>
              <a:gd name="adj" fmla="val 16667"/>
            </a:avLst>
          </a:prstGeom>
          <a:solidFill>
            <a:srgbClr val="d7e7f4"/>
          </a:solidFill>
          <a:ln>
            <a:solidFill>
              <a:srgbClr val="d7e7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TextBox 12"/>
          <p:cNvSpPr/>
          <p:nvPr/>
        </p:nvSpPr>
        <p:spPr>
          <a:xfrm>
            <a:off x="8412480" y="2522880"/>
            <a:ext cx="2057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23054"/>
                </a:solidFill>
                <a:latin typeface="Aptos"/>
              </a:rPr>
              <a:t>Validate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9" name="Rounded Rectangle 13"/>
          <p:cNvSpPr/>
          <p:nvPr/>
        </p:nvSpPr>
        <p:spPr>
          <a:xfrm>
            <a:off x="8412480" y="3090600"/>
            <a:ext cx="2057040" cy="392760"/>
          </a:xfrm>
          <a:prstGeom prst="roundRect">
            <a:avLst>
              <a:gd name="adj" fmla="val 16667"/>
            </a:avLst>
          </a:prstGeom>
          <a:solidFill>
            <a:srgbClr val="d7e7f4"/>
          </a:solidFill>
          <a:ln>
            <a:solidFill>
              <a:srgbClr val="d7e7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TextBox 14"/>
          <p:cNvSpPr/>
          <p:nvPr/>
        </p:nvSpPr>
        <p:spPr>
          <a:xfrm>
            <a:off x="8412480" y="3144600"/>
            <a:ext cx="2057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23054"/>
                </a:solidFill>
                <a:latin typeface="Aptos"/>
              </a:rPr>
              <a:t>Monitor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1" name="Rounded Rectangle 15"/>
          <p:cNvSpPr/>
          <p:nvPr/>
        </p:nvSpPr>
        <p:spPr>
          <a:xfrm>
            <a:off x="8412480" y="3712320"/>
            <a:ext cx="2057040" cy="392760"/>
          </a:xfrm>
          <a:prstGeom prst="roundRect">
            <a:avLst>
              <a:gd name="adj" fmla="val 16667"/>
            </a:avLst>
          </a:prstGeom>
          <a:solidFill>
            <a:srgbClr val="d7e7f4"/>
          </a:solidFill>
          <a:ln>
            <a:solidFill>
              <a:srgbClr val="d7e7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TextBox 16"/>
          <p:cNvSpPr/>
          <p:nvPr/>
        </p:nvSpPr>
        <p:spPr>
          <a:xfrm>
            <a:off x="8412480" y="3766320"/>
            <a:ext cx="2057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23054"/>
                </a:solidFill>
                <a:latin typeface="Aptos"/>
              </a:rPr>
              <a:t>Recover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3" name="Rounded Rectangle 17"/>
          <p:cNvSpPr/>
          <p:nvPr/>
        </p:nvSpPr>
        <p:spPr>
          <a:xfrm>
            <a:off x="8412480" y="4334400"/>
            <a:ext cx="2057040" cy="392760"/>
          </a:xfrm>
          <a:prstGeom prst="roundRect">
            <a:avLst>
              <a:gd name="adj" fmla="val 16667"/>
            </a:avLst>
          </a:prstGeom>
          <a:solidFill>
            <a:srgbClr val="d7e7f4"/>
          </a:solidFill>
          <a:ln>
            <a:solidFill>
              <a:srgbClr val="d7e7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TextBox 18"/>
          <p:cNvSpPr/>
          <p:nvPr/>
        </p:nvSpPr>
        <p:spPr>
          <a:xfrm>
            <a:off x="8412480" y="4388400"/>
            <a:ext cx="2057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23054"/>
                </a:solidFill>
                <a:latin typeface="Aptos"/>
              </a:rPr>
              <a:t>Improve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6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7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Testing and Validation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99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Evidence-based verification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0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01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18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2" name="Rectangle 8"/>
          <p:cNvSpPr/>
          <p:nvPr/>
        </p:nvSpPr>
        <p:spPr>
          <a:xfrm>
            <a:off x="594360" y="1188720"/>
            <a:ext cx="5348880" cy="489168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3" name="Rectangle 9"/>
          <p:cNvSpPr/>
          <p:nvPr/>
        </p:nvSpPr>
        <p:spPr>
          <a:xfrm>
            <a:off x="6245280" y="1188720"/>
            <a:ext cx="5348880" cy="4891680"/>
          </a:xfrm>
          <a:prstGeom prst="rect">
            <a:avLst/>
          </a:prstGeom>
          <a:solidFill>
            <a:srgbClr val="f2f7fb"/>
          </a:solidFill>
          <a:ln>
            <a:solidFill>
              <a:srgbClr val="f2f7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TextBox 10"/>
          <p:cNvSpPr/>
          <p:nvPr/>
        </p:nvSpPr>
        <p:spPr>
          <a:xfrm>
            <a:off x="841320" y="1358640"/>
            <a:ext cx="475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23054"/>
                </a:solidFill>
                <a:latin typeface="Aptos"/>
              </a:rPr>
              <a:t>Test Coverage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5" name="TextBox 11"/>
          <p:cNvSpPr/>
          <p:nvPr/>
        </p:nvSpPr>
        <p:spPr>
          <a:xfrm>
            <a:off x="822960" y="1783080"/>
            <a:ext cx="4663080" cy="19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Valid PDF upload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Invalid file type and missing file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Unsupported examination selection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Correct scoring and answer normalisation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Parser confidence and extraction handling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6" name="TextBox 12"/>
          <p:cNvSpPr/>
          <p:nvPr/>
        </p:nvSpPr>
        <p:spPr>
          <a:xfrm>
            <a:off x="6492240" y="1358640"/>
            <a:ext cx="475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23054"/>
                </a:solidFill>
                <a:latin typeface="Aptos"/>
              </a:rPr>
              <a:t>Expected Quality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7" name="TextBox 13"/>
          <p:cNvSpPr/>
          <p:nvPr/>
        </p:nvSpPr>
        <p:spPr>
          <a:xfrm>
            <a:off x="6473880" y="1783080"/>
            <a:ext cx="4663080" cy="21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Clear user-facing validation messages.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Correct marks for known test inputs.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Safe handling of service errors.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Persistent, retrievable result records.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600" spc="-1" strike="noStrike">
                <a:solidFill>
                  <a:srgbClr val="22272d"/>
                </a:solidFill>
                <a:latin typeface="Aptos"/>
              </a:rPr>
              <a:t>Traceable testing evidence and regression checks.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9" name="Rectangle 2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Rectangl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TextBox 4"/>
          <p:cNvSpPr/>
          <p:nvPr/>
        </p:nvSpPr>
        <p:spPr>
          <a:xfrm>
            <a:off x="502920" y="363600"/>
            <a:ext cx="106981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123054"/>
                </a:solidFill>
                <a:latin typeface="Aptos"/>
              </a:rPr>
              <a:t>Future Enhancements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312" name="TextBox 5"/>
          <p:cNvSpPr/>
          <p:nvPr/>
        </p:nvSpPr>
        <p:spPr>
          <a:xfrm>
            <a:off x="530280" y="820440"/>
            <a:ext cx="104238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973"/>
                </a:solidFill>
                <a:latin typeface="Aptos"/>
              </a:rPr>
              <a:t>Opportunities for the next development cycle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3" name="TextBox 6"/>
          <p:cNvSpPr/>
          <p:nvPr/>
        </p:nvSpPr>
        <p:spPr>
          <a:xfrm>
            <a:off x="502920" y="6569280"/>
            <a:ext cx="64004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MARKS ANALYSER  •  MCA PROJECT PRESENTATION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14" name="TextBox 7"/>
          <p:cNvSpPr/>
          <p:nvPr/>
        </p:nvSpPr>
        <p:spPr>
          <a:xfrm>
            <a:off x="11064240" y="6552360"/>
            <a:ext cx="5940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</a:rPr>
              <a:t>19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5" name="TextBox 8"/>
          <p:cNvSpPr/>
          <p:nvPr/>
        </p:nvSpPr>
        <p:spPr>
          <a:xfrm>
            <a:off x="777240" y="1234440"/>
            <a:ext cx="10515240" cy="25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900" spc="-1" strike="noStrike">
                <a:solidFill>
                  <a:srgbClr val="22272d"/>
                </a:solidFill>
                <a:latin typeface="Aptos"/>
              </a:rPr>
              <a:t>Template-based OCR and image preprocessing for scanned sheets.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900" spc="-1" strike="noStrike">
                <a:solidFill>
                  <a:srgbClr val="22272d"/>
                </a:solidFill>
                <a:latin typeface="Aptos"/>
              </a:rPr>
              <a:t>Additional examination formats and configurable marking schemes.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900" spc="-1" strike="noStrike">
                <a:solidFill>
                  <a:srgbClr val="22272d"/>
                </a:solidFill>
                <a:latin typeface="Aptos"/>
              </a:rPr>
              <a:t>Bulk upload, PDF/CSV exports, and detailed dashboards.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900" spc="-1" strike="noStrike">
                <a:solidFill>
                  <a:srgbClr val="22272d"/>
                </a:solidFill>
                <a:latin typeface="Aptos"/>
              </a:rPr>
              <a:t>Role-based access control and stronger administrator authentication.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900" spc="-1" strike="noStrike">
                <a:solidFill>
                  <a:srgbClr val="22272d"/>
                </a:solidFill>
                <a:latin typeface="Aptos"/>
              </a:rPr>
              <a:t>Automated tests and continuous integration.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900" spc="-1" strike="noStrike">
                <a:solidFill>
                  <a:srgbClr val="22272d"/>
                </a:solidFill>
                <a:latin typeface="Aptos"/>
              </a:rPr>
              <a:t>Machine-learning-assisted anomaly and answer-pattern detection.</a:t>
            </a:r>
            <a:endParaRPr b="0" lang="en-IN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3054"/>
          </a:solidFill>
          <a:ln>
            <a:solidFill>
              <a:srgbClr val="1230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Rectangle 2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ebb43c"/>
          </a:solidFill>
          <a:ln>
            <a:solidFill>
              <a:srgbClr val="ebb4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TextBox 3"/>
          <p:cNvSpPr/>
          <p:nvPr/>
        </p:nvSpPr>
        <p:spPr>
          <a:xfrm>
            <a:off x="914400" y="1274760"/>
            <a:ext cx="1033236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800" spc="-1" strike="noStrike">
                <a:solidFill>
                  <a:srgbClr val="ffffff"/>
                </a:solidFill>
                <a:latin typeface="Aptos"/>
              </a:rPr>
              <a:t>Thank You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19" name="TextBox 4"/>
          <p:cNvSpPr/>
          <p:nvPr/>
        </p:nvSpPr>
        <p:spPr>
          <a:xfrm>
            <a:off x="1005840" y="2227320"/>
            <a:ext cx="101494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100" spc="-1" strike="noStrike">
                <a:solidFill>
                  <a:srgbClr val="d2e4f5"/>
                </a:solidFill>
                <a:latin typeface="Aptos"/>
              </a:rPr>
              <a:t>Marks Analyser — Faster, clearer, and more traceable response-sheet analysis.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320" name="Rounded Rectangle 5"/>
          <p:cNvSpPr/>
          <p:nvPr/>
        </p:nvSpPr>
        <p:spPr>
          <a:xfrm>
            <a:off x="3840480" y="3657600"/>
            <a:ext cx="4525920" cy="914040"/>
          </a:xfrm>
          <a:prstGeom prst="roundRect">
            <a:avLst>
              <a:gd name="adj" fmla="val 16667"/>
            </a:avLst>
          </a:prstGeom>
          <a:solidFill>
            <a:srgbClr val="2666a1"/>
          </a:solidFill>
          <a:ln>
            <a:solidFill>
              <a:srgbClr val="2666a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TextBox 6"/>
          <p:cNvSpPr/>
          <p:nvPr/>
        </p:nvSpPr>
        <p:spPr>
          <a:xfrm>
            <a:off x="3840480" y="3911040"/>
            <a:ext cx="45259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</a:rPr>
              <a:t>Questions &amp; Discussion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2" name="TextBox 7"/>
          <p:cNvSpPr/>
          <p:nvPr/>
        </p:nvSpPr>
        <p:spPr>
          <a:xfrm>
            <a:off x="914400" y="6075360"/>
            <a:ext cx="1033236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d2e4f5"/>
                </a:solidFill>
                <a:latin typeface="Aptos"/>
              </a:rPr>
              <a:t>YAMALAVALASA SRINIVAS  |  MCA Project Presentation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2026-07-27T03:15:41Z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